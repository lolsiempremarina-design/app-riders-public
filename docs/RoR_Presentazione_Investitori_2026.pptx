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1A"/>
                </a:solidFill>
                <a:latin typeface="Segoe UI"/>
              </a:defRPr>
            </a:pPr>
            <a:r>
              <a:rPr sz="1200" b="0" i="0" u="none" strike="noStrike">
                <a:solidFill>
                  <a:srgbClr val="0F171A"/>
                </a:solidFill>
                <a:latin typeface="Segoe UI"/>
              </a:rPr>
              <a:t>Ricavi di RoR (migliaia di 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Commissioni sulle consegne</c:v>
                </c:pt>
              </c:strCache>
            </c:strRef>
          </c:tx>
          <c:spPr>
            <a:solidFill>
              <a:srgbClr val="0E7A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32.4</c:v>
                </c:pt>
                <c:pt idx="1">
                  <c:v>324</c:v>
                </c:pt>
                <c:pt idx="2">
                  <c:v>3240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SaaS per le flotte</c:v>
                </c:pt>
              </c:strCache>
            </c:strRef>
          </c:tx>
          <c:spPr>
            <a:solidFill>
              <a:srgbClr val="72CA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61.2</c:v>
                </c:pt>
                <c:pt idx="2">
                  <c:v>612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Marketplace e sostenitori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4.8</c:v>
                </c:pt>
                <c:pt idx="1">
                  <c:v>48</c:v>
                </c:pt>
                <c:pt idx="2">
                  <c:v>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6B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6666B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Buongiorno a tutti. Vi presentiamo Rider of Riders: una piattaforma che protegge chi consegna in bicicletta e rende il lavoro dei rider più sicuro e più giusto. Quello che vedete sui telefoni non è un disegno: sono schermate dell'app reale, che oggi funziona su Android e come web app. Nel corso della presentazione distinguiamo sempre ciò che funziona già da ciò che è la nostra visione.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gestisce una flotta di rider a due ruote ha quattro problemi: non sa come vengono usati i mezzi, teme gli incidenti, subisce furti di biciclette e perde i rider migliori. Nota: prima di presentare, se volete citare percentuali (furti, turnover) aggiungete la fonte: nella versione precedente erano stime senza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cuore del progetto è sociale: la gig economy tradizionale scarica rischi e costi sui rider. Noi vogliamo ribaltare il modello: bici senza debiti, tutele reali e ricavi che non dipendono solo dalle commissioni. La forma societaria prevista è una Srl Benefit, che lega per statuto l'impresa alla dignità del lavoro e rende il progetto interessante anche per investitori attenti all'impatto (ESG).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RoR non è solo un'app e non è solo un lucchetto: è un ecosistema. I primi due livelli, l'app del rider e il cloud, funzionano già oggi. Il terzo livello, la bici connessa con centralina, sensore sul telaio e Smart Lock, è la nostra visione e parte con il pilota del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il punto più importante: il software esiste e funziona. Queste sono schermate reali dell'app (con dati dimostrativi). Il 29 settembre l'abbiamo installata su un telefono Android: registrazione del percorso, SOS, consegne e notifiche push anche con l'app chiusa. Se possibile, a questo punto mostrate l'app dal vivo sul telefono.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L'app è progettata per chi lavora in strada: funziona anche in galleria, perché i punti GPS vengono salvati e inviati appena torna il segnale. Sulla mappa il rider trova parcheggi bici, fontanelle, bagni e ciclofficine. Le notifiche push arrivano anche con l'app chiusa: lo abbiamo verificato su un telefono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vita del rider viene prima di tutto. Il telefono misura accelerazione e rotazione 20 volte al secondo: se riconosce una caduta parte un conto alla rovescia di 10 secondi. Se il rider non risponde, perché è incosciente, parte l'SOS con la posizione: email ai contatti di emergenza e avviso ai compagni di gruppo. Nota: la soglia di rilevamento va ancora calibrata con prove reali (fase di test in corso).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lavoro del rider è solitario: con i gruppi creiamo una community. Chat in tempo reale, posizione dei compagni (solo se la condividono) e, soprattutto, SOS visibile a chi è vicino. Nella seconda schermata si vede l'avviso che arriva quando un compagno di gruppo invia un 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flusso delle consegne è completo: l'amministratore crea l'ordine, i rider ricevono una notifica, uno lo accetta, lo ritira e lo consegna. L'app calcola guadagni e puntualità, che sono la base per gli incentivi. I pagamenti non passano dall'app: mostriamo quanto è stato maturato.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Invece di premiare la velocità, che causa incidenti, premiamo puntualità e sicurezza. Il punteggio esiste già nell'app con regole trasparenti: 10 punti per km, 20 per consegna, 5 in più se in orario. Classifiche, livelli e incentivi economici sono il passo successivo: rider più motivati restano più a lungo e riducono il turnover.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 il cofano c'è un'infrastruttura professionale. Flask gestisce utenti, gruppi, ordini e SOS; FastAPI riceve i punti GPS e li mette in una coda RabbitMQ, così nessun punto va perso nelle ore di punta. Un worker calcola percorsi, chilometri e pause. Tutto gira in 10 servizi Docker: oggi su un PC con un tunnel gratuito, domani su un server, senza cambiare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software per la sicurezza delle persone deve essere affidabile: 131 test sul backend, 294 sul frontend e 6 test che usano un browser reale, eseguiti a ogni modifica. Abbiamo curato privacy e sicurezza fin dall'inizio: esportazione e cancellazione dei dati, backup giornalieri verificati e un audit con quasi 500 richieste malevole senza alcun accesso ai dati altrui.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le aziende il valore è concreto: la piattaforma esiste già, quindi niente costi di sviluppo da zero. Le riduzioni di furti (-40%) e turnover (-30%) sono obiettivi, non risultati: li misureremo nel pilota del 2027. La manutenzione preventiva parte da un dato che già raccogliamo: i km di ogni bici.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modello per le aziende è un abbonamento mensile per bici attiva: 14 euro per il piano base, 19 con rilevamento cadute e gamification. Per le grandi flotte offriamo il kit hardware (centralina e Smart Lock) in vendita o noleggio, con integrazione nei loro gestionali. I prezzi sono una proposta da validare con i primi clienti.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Oltre agli abbonamenti per le flotte, il business plan prevede altre fonti di ricavo coerenti con la missione sociale: commissioni sulle consegne, un marketplace di prossimità, il programma «Sostieni un rider» in cui i cittadini finanziano le tutele con piccoli abbonamenti, le coperture assicurative su tre livelli e i report ESG per le aziende.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Abbiamo reso le proiezioni più prudenti e trasparenti. Il business plan contava come ricavo tutto il valore delle consegne (circa 1.800-2.500 euro al mese per rider), ma quei soldi sono in gran parte il compenso del rider. Qui separiamo il valore delle consegne gestite dai ricavi veri di RoR: il 15% di commissione, gli abbonamenti SaaS delle aziende e il margine di marketplace e sostenitori. I costi includono team, tecnologia, bici e kit antifurto, tutele e marketing. Risultato: perdita nel 2027 coperta dal seed, quasi pareggio nel 2028 e utile nel 2029 con 1.000 rider. Tutti i numeri sono ipotesi da validare nel pilota.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Oggi il software è completo e provato su un telefono reale. Nel primo trimestre 2027 parte la prova di concetto con 2 bici attrezzate, il team e i primi rider volontari. Poi l'MVP con 10 rider tra Porta Garibaldi e Piazza Baiamonti, 100 rider nel 2028 e 1.000 nel 2029, con l'espansione ad altre città e funzioni di intelligenza artificiale.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il team. Abbiamo progettato e sviluppato tutta la piattaforma: l'app Android e web, il cloud, 425 test automatici e il business plan. Qui potete aggiungere i ruoli di ciascuno (sviluppo, prodotto, finanza, operazioni) e il contesto in cui è nato il progetto.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Cerchiamo 1,2 milioni di euro in due fasi: 200 mila di seed per la prova di concetto e l'MVP nel 2027, e un milione per scalare a 1.000 rider tra il 2028 e il 2029. Partiamo con un vantaggio: il software è già pronto e testato, quindi l'investimento va quasi tutto sulle persone e sulle bici, non sullo sviluppo da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RoR è pronta a trasformare il delivery in bicicletta in un lavoro più sicuro e più giusto, con una tecnologia che funziona già. Vi invitiamo a provare l'app dal vivo. Grazie per l'attenzione: siamo a disposizione per le vostre domande.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6949440" cy="6949440"/>
          </a:xfrm>
          <a:prstGeom prst="ellipse">
            <a:avLst/>
          </a:prstGeom>
          <a:solidFill>
            <a:srgbClr val="9BE191">
              <a:alpha val="10000"/>
            </a:srgbClr>
          </a:solidFill>
          <a:ln w="12700">
            <a:solidFill>
              <a:srgbClr val="9BE1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3566160"/>
            <a:ext cx="4754880" cy="4754880"/>
          </a:xfrm>
          <a:prstGeom prst="ellipse">
            <a:avLst/>
          </a:prstGeom>
          <a:solidFill>
            <a:srgbClr val="9BE191">
              <a:alpha val="6000"/>
            </a:srgbClr>
          </a:solidFill>
          <a:ln w="12700">
            <a:solidFill>
              <a:srgbClr val="9BE19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3611880" cy="384048"/>
          </a:xfrm>
          <a:prstGeom prst="roundRect">
            <a:avLst>
              <a:gd name="adj" fmla="val 50000"/>
            </a:avLst>
          </a:prstGeom>
          <a:solidFill>
            <a:srgbClr val="22323A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7772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IMPATTO SOCIALE &amp; TECNOLOGIA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piattaforma che protegge chi consegna in bicicletta e costruisce un delivery urbano più sicuro e più giusto.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475488" cy="475488"/>
          </a:xfrm>
          <a:prstGeom prst="ellipse">
            <a:avLst/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97" y="3817437"/>
            <a:ext cx="247254" cy="24725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3685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Android + PWA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959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in tempo reale, anche a schermo spento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4361688"/>
            <a:ext cx="475488" cy="475488"/>
          </a:xfrm>
          <a:prstGeom prst="ellipse">
            <a:avLst/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7" y="4475805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8016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Cadute e SOS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280160" y="4617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Allarme automatico con la posizione ai soccorsi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5020056"/>
            <a:ext cx="475488" cy="475488"/>
          </a:xfrm>
          <a:prstGeom prst="ellipse">
            <a:avLst/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7" y="5134173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5001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cloud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280160" y="5276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Gruppi, consegne, guadagni e statistiche reali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Pitch per investitori e commissione di valutazione  •  Milano, 2026</a:t>
            </a:r>
            <a:endParaRPr lang="en-US" sz="1100" dirty="0"/>
          </a:p>
        </p:txBody>
      </p:sp>
      <p:pic>
        <p:nvPicPr>
          <p:cNvPr id="21" name="Image 3" descr="C:\Users\lolsi\AppData\Local\Temp\claude\C--Users-lolsi-Downloads-STAGE-PCTO-Progecto17-08-2026\2050da16-5c32-4892-8f84-bafdce51ee22\scratchpad\deck\phones\cadu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48640"/>
            <a:ext cx="2640027" cy="5303520"/>
          </a:xfrm>
          <a:prstGeom prst="rect">
            <a:avLst/>
          </a:prstGeom>
        </p:spPr>
      </p:pic>
      <p:pic>
        <p:nvPicPr>
          <p:cNvPr id="22" name="Image 4" descr="C:\Users\lolsi\AppData\Local\Temp\claude\C--Users-lolsi-Downloads-STAGE-PCTO-Progecto17-08-2026\2050da16-5c32-4892-8f84-bafdce51ee22\scratchpad\deck\phones\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914400"/>
            <a:ext cx="264002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PROBLEMA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sfide critiche del delivery urbano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limiti che oggi generano costi, rischi legali e rider demotivati: per chi gestisce le flotte e per chi pedala.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49824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13432"/>
            <a:ext cx="658368" cy="65836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47144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2258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scatola nera sulla flotta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2926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aziende non vedono in tempo reale dove sono i mezzi, quanti km percorrono e che tragitti seguono: ritardi e nessuna pianificazione.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90488" y="1965960"/>
            <a:ext cx="5449824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0528" y="2313432"/>
            <a:ext cx="658368" cy="65836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536" y="2471440"/>
            <a:ext cx="342351" cy="3423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79208" y="2258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379208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Incidenti senza soccorso automatico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7379208" y="2926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un rider cade di notte su una strada isolata nessuno lo sa: tempi di intervento lenti e pesanti responsabilità legali e d'immagine.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114800"/>
            <a:ext cx="5449824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8680" y="4462272"/>
            <a:ext cx="658368" cy="65836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4620280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737360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737360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Furti e perdite di biciclette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1737360" y="5074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Ogni bici rubata è un costo di riacquisto e un turno perso. Spesso è il rider stesso a indebitarsi per comprare il mezzo.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190488" y="4114800"/>
            <a:ext cx="5449824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10528" y="4462272"/>
            <a:ext cx="658368" cy="658368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536" y="4620280"/>
            <a:ext cx="342351" cy="34235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79208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379208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Turnover altissimo dei rider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379208" y="5074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Pochi incentivi, nessuna tutela e strumenti inadeguati: i rider migliori se ne vanno e le aziende pagano continui cicli di selezione.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NOSTRA VISIONE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Gig Economy Solidale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nasce come Srl Benefit: profitto e dignità del lavoro scritti nello stesso statuto.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833811" y="411480"/>
            <a:ext cx="809244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3811" y="411480"/>
            <a:ext cx="80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49824" cy="548640"/>
          </a:xfrm>
          <a:prstGeom prst="roundRect">
            <a:avLst>
              <a:gd name="adj" fmla="val 23333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3911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07008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Vecchia gig economy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90488" y="1920240"/>
            <a:ext cx="5449824" cy="548640"/>
          </a:xfrm>
          <a:prstGeom prst="roundRect">
            <a:avLst>
              <a:gd name="adj" fmla="val 23333"/>
            </a:avLst>
          </a:prstGeom>
          <a:solidFill>
            <a:srgbClr val="DDF1D9"/>
          </a:solidFill>
          <a:ln w="9525">
            <a:solidFill>
              <a:srgbClr val="DDF1D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0391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48856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modello Rider of Riders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606040"/>
            <a:ext cx="5449824" cy="804672"/>
          </a:xfrm>
          <a:prstGeom prst="roundRect">
            <a:avLst>
              <a:gd name="adj" fmla="val 15909"/>
            </a:avLst>
          </a:prstGeom>
          <a:solidFill>
            <a:srgbClr val="FBF6F6"/>
          </a:solidFill>
          <a:ln w="9525">
            <a:solidFill>
              <a:srgbClr val="F3E1E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27157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MEZZO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2953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rider si indebita per comprare la bici.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0488" y="2606040"/>
            <a:ext cx="5449824" cy="804672"/>
          </a:xfrm>
          <a:prstGeom prst="roundRect">
            <a:avLst>
              <a:gd name="adj" fmla="val 15909"/>
            </a:avLst>
          </a:prstGeom>
          <a:solidFill>
            <a:srgbClr val="EEF8EC"/>
          </a:solidFill>
          <a:ln w="9525">
            <a:solidFill>
              <a:srgbClr val="DDF1D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19088" y="27157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MEZZO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6419088" y="2953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Bici in comodato d'uso gratuito, finanziate con fondazioni e ciclofficine partner.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" y="3520440"/>
            <a:ext cx="5449824" cy="804672"/>
          </a:xfrm>
          <a:prstGeom prst="roundRect">
            <a:avLst>
              <a:gd name="adj" fmla="val 15909"/>
            </a:avLst>
          </a:prstGeom>
          <a:solidFill>
            <a:srgbClr val="FBF6F6"/>
          </a:solidFill>
          <a:ln w="9525">
            <a:solidFill>
              <a:srgbClr val="F3E1E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77240" y="36301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SICUREZZA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3867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Furti frequenti e nessuna protezione del mezzo.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190488" y="3520440"/>
            <a:ext cx="5449824" cy="804672"/>
          </a:xfrm>
          <a:prstGeom prst="roundRect">
            <a:avLst>
              <a:gd name="adj" fmla="val 15909"/>
            </a:avLst>
          </a:prstGeom>
          <a:solidFill>
            <a:srgbClr val="EEF8EC"/>
          </a:solidFill>
          <a:ln w="9525">
            <a:solidFill>
              <a:srgbClr val="DDF1D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19088" y="36301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SICUREZZA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6419088" y="3867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Rilevamento cadute e SOS già nell'app; telemetria e kit antifurto sulla bici.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8640" y="4434840"/>
            <a:ext cx="5449824" cy="804672"/>
          </a:xfrm>
          <a:prstGeom prst="roundRect">
            <a:avLst>
              <a:gd name="adj" fmla="val 15909"/>
            </a:avLst>
          </a:prstGeom>
          <a:solidFill>
            <a:srgbClr val="FBF6F6"/>
          </a:solidFill>
          <a:ln w="9525">
            <a:solidFill>
              <a:srgbClr val="F3E1E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" y="45445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TUTELE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777240" y="47823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Rischi interamente a carico del lavoratore.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190488" y="4434840"/>
            <a:ext cx="5449824" cy="804672"/>
          </a:xfrm>
          <a:prstGeom prst="roundRect">
            <a:avLst>
              <a:gd name="adj" fmla="val 15909"/>
            </a:avLst>
          </a:prstGeom>
          <a:solidFill>
            <a:srgbClr val="EEF8EC"/>
          </a:solidFill>
          <a:ln w="9525">
            <a:solidFill>
              <a:srgbClr val="DDF1D9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19088" y="45445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TUTELE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6419088" y="47823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Coperture su 3 livelli: lavoro, persona e famiglia, a costi accessibili.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8640" y="5349240"/>
            <a:ext cx="5449824" cy="804672"/>
          </a:xfrm>
          <a:prstGeom prst="roundRect">
            <a:avLst>
              <a:gd name="adj" fmla="val 15909"/>
            </a:avLst>
          </a:prstGeom>
          <a:solidFill>
            <a:srgbClr val="FBF6F6"/>
          </a:solidFill>
          <a:ln w="9525">
            <a:solidFill>
              <a:srgbClr val="F3E1E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77240" y="5458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6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BUSINESS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777240" y="5696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Margini compressi dalle sole commissioni.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190488" y="5349240"/>
            <a:ext cx="5449824" cy="804672"/>
          </a:xfrm>
          <a:prstGeom prst="roundRect">
            <a:avLst>
              <a:gd name="adj" fmla="val 15909"/>
            </a:avLst>
          </a:prstGeom>
          <a:solidFill>
            <a:srgbClr val="EEF8EC"/>
          </a:solidFill>
          <a:ln w="9525">
            <a:solidFill>
              <a:srgbClr val="DDF1D9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419088" y="5458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BUSINESS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6419088" y="5696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Ricavi software ricorrenti, marketplace e servizi alle aziende.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SOLUZIONE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ecosistema integrato in 3 livelli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smartphone del rider, il cloud e la bicicletta in un'unica piattaforma chiavi in mano.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6160" cy="4251960"/>
          </a:xfrm>
          <a:prstGeom prst="roundRect">
            <a:avLst>
              <a:gd name="adj" fmla="val 3590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4884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208483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120" y="2242840"/>
            <a:ext cx="342351" cy="34235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2960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LIVELLO 1  •  APP DEL RIDER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Android e PWA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7033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Android nativa e web app installabile senza store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anche a schermo spento e senza rete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Mappa con parcheggi bici, fontanelle e bagni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Italiano, inglese e spagnolo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15968" y="1920240"/>
            <a:ext cx="3566160" cy="4251960"/>
          </a:xfrm>
          <a:prstGeom prst="roundRect">
            <a:avLst>
              <a:gd name="adj" fmla="val 3590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90288" y="214884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90288" y="214884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49440" y="208483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448" y="2242840"/>
            <a:ext cx="342351" cy="342351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90288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LIVELLO 2  •  CLOUD E DATI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590288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scalabile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4590288" y="37033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Ricezione GPS ad alta frequenza (FastAPI + RabbitMQ)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Utenti, gruppi, ordini e ruoli (Flask)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Storico dei percorsi GPX su PostgreSQL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Notifiche push con Firebase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083296" y="1920240"/>
            <a:ext cx="3566160" cy="4251960"/>
          </a:xfrm>
          <a:prstGeom prst="roundRect">
            <a:avLst>
              <a:gd name="adj" fmla="val 3590"/>
            </a:avLst>
          </a:prstGeom>
          <a:solidFill>
            <a:srgbClr val="FDF3DD"/>
          </a:solidFill>
          <a:ln w="9525">
            <a:solidFill>
              <a:srgbClr val="FDF3D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57616" y="2148840"/>
            <a:ext cx="809244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357616" y="2148840"/>
            <a:ext cx="80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10716768" y="208483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776" y="2242840"/>
            <a:ext cx="342351" cy="34235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357616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LIVELLO 3  •  HARDWARE E IOT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8357616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bike connessa</a:t>
            </a:r>
            <a:endParaRPr lang="en-US" sz="1900" dirty="0"/>
          </a:p>
        </p:txBody>
      </p:sp>
      <p:sp>
        <p:nvSpPr>
          <p:cNvPr id="30" name="Text 25"/>
          <p:cNvSpPr txBox="1"/>
          <p:nvPr/>
        </p:nvSpPr>
        <p:spPr>
          <a:xfrm>
            <a:off x="8357616" y="37033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○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Centralina GPS/SIM a basso consumo sul telaio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○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Sensore inerziale MPU-6050 per urti e cadute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○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Lock antiscasso comandato dall'app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○"/>
            </a:pPr>
            <a:r>
              <a:rPr lang="en-US" sz="12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Targa digitale che impedisce la rivendita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PROVA SUL CAMPO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è un'idea su carta: l'app funziona già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29/09/2026 è stata installata e provata su un telefono Android reale: GPS, SOS, consegne e notifiche push.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12603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12603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pic>
        <p:nvPicPr>
          <p:cNvPr id="9" name="Image 0" descr="C:\Users\lolsi\AppData\Local\Temp\claude\C--Users-lolsi-Downloads-STAGE-PCTO-Progecto17-08-2026\2050da16-5c32-4892-8f84-bafdce51ee22\scratchpad\deck\phones\tr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1980020" cy="3977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5916168"/>
            <a:ext cx="2345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Sessione GPS in corso</a:t>
            </a:r>
            <a:endParaRPr lang="en-US" sz="1300" dirty="0"/>
          </a:p>
        </p:txBody>
      </p:sp>
      <p:pic>
        <p:nvPicPr>
          <p:cNvPr id="11" name="Image 1" descr="C:\Users\lolsi\AppData\Local\Temp\claude\C--Users-lolsi-Downloads-STAGE-PCTO-Progecto17-08-2026\2050da16-5c32-4892-8f84-bafdce51ee22\scratchpad\deck\phones\mappa_percor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920240"/>
            <a:ext cx="1980020" cy="3977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3008" y="5916168"/>
            <a:ext cx="2345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percorso sulla mappa</a:t>
            </a:r>
            <a:endParaRPr lang="en-US" sz="1300" dirty="0"/>
          </a:p>
        </p:txBody>
      </p:sp>
      <p:pic>
        <p:nvPicPr>
          <p:cNvPr id="13" name="Image 2" descr="C:\Users\lolsi\AppData\Local\Temp\claude\C--Users-lolsi-Downloads-STAGE-PCTO-Progecto17-08-2026\2050da16-5c32-4892-8f84-bafdce51ee22\scratchpad\deck\phones\conseg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920240"/>
            <a:ext cx="1980020" cy="3977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54496" y="5916168"/>
            <a:ext cx="2345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Ordini disponibili</a:t>
            </a:r>
            <a:endParaRPr lang="en-US" sz="1300" dirty="0"/>
          </a:p>
        </p:txBody>
      </p:sp>
      <p:pic>
        <p:nvPicPr>
          <p:cNvPr id="15" name="Image 3" descr="C:\Users\lolsi\AppData\Local\Temp\claude\C--Users-lolsi-Downloads-STAGE-PCTO-Progecto17-08-2026\2050da16-5c32-4892-8f84-bafdce51ee22\scratchpad\deck\phones\cadu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1920240"/>
            <a:ext cx="1980020" cy="39776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15984" y="5916168"/>
            <a:ext cx="2345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Caduta rilevata → SOS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6217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Schermate dell'app reale con dati dimostrativi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L'APP DEL RIDER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Progettata per la strada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Leggibile sotto il sole, robusta quando manca il segnale, utile tra una consegna e l'altra.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12603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12603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730752" cy="1901952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240280"/>
            <a:ext cx="585216" cy="585216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412" y="2380732"/>
            <a:ext cx="304312" cy="30431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54480" y="2313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Android e PWA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9443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installa senza store. Nell'app Android il GPS e il rilevamento cadute continuano anche a schermo spento.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80560" y="1965960"/>
            <a:ext cx="3730752" cy="1901952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240280"/>
            <a:ext cx="585216" cy="585216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332" y="2380732"/>
            <a:ext cx="304312" cy="3043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0" y="2313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anche senza rete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754880" y="29443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galleria i punti GPS restano in coda e partono al ritorno del segnale; l'app si apre anche offline.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069080"/>
            <a:ext cx="3730752" cy="1901952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343400"/>
            <a:ext cx="585216" cy="585216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12" y="4483852"/>
            <a:ext cx="304312" cy="3043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554480" y="4416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mappa di chi pedala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50474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Parcheggi bici, fontanelle, bagni e ciclofficine di Milano, più il tracciato di ogni percorso.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480560" y="4069080"/>
            <a:ext cx="3730752" cy="1901952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4343400"/>
            <a:ext cx="585216" cy="585216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332" y="4483852"/>
            <a:ext cx="304312" cy="30431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86400" y="44165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Notifiche e 3 lingue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4754880" y="50474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Ordini e SOS arrivano con una notifica push anche ad app chiusa. Italiano, inglese e spagnolo.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08990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41248" y="60899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Visione: sblocco dello Smart Lock dall'app con conferma sonora.</a:t>
            </a:r>
            <a:endParaRPr lang="en-US" sz="1100" dirty="0"/>
          </a:p>
        </p:txBody>
      </p:sp>
      <p:pic>
        <p:nvPicPr>
          <p:cNvPr id="31" name="Image 5" descr="C:\Users\lolsi\AppData\Local\Temp\claude\C--Users-lolsi-Downloads-STAGE-PCTO-Progecto17-08-2026\2050da16-5c32-4892-8f84-bafdce51ee22\scratchpad\deck\phones\mapp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1417320"/>
            <a:ext cx="2435197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SICUREZZA SALVA-VITA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Rilevamento cadute e SOS automatico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prima piattaforma per rider che protegge attivamente l'incolumità di chi lavora in strada.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12603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12603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75104"/>
            <a:ext cx="475488" cy="475488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1938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Urto e rotazione anomali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sensori del telefono (20 misure al secondo) riconoscono la caduta, anche su pavé.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475488" cy="475488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788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Conto alla rovescia di 10 secondi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Allarme visivo e sonoro; nell'app Android anche a schermo spento.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475488" cy="475488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639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«Sto bene» con un tocco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941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rider cosciente annulla l'allarme e riprende il turno.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475488" cy="475488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526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4897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 con la posizione esatta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4791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ai contatti di emergenza e avviso ai compagni di gruppo sulla mappa.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76672"/>
            <a:ext cx="475488" cy="475488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376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5340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Soccorso rapido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5641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Chiamata o SMS ai contatti e al 112 direttamente dall'app.</a:t>
            </a:r>
            <a:endParaRPr lang="en-US" sz="1200" dirty="0"/>
          </a:p>
        </p:txBody>
      </p:sp>
      <p:pic>
        <p:nvPicPr>
          <p:cNvPr id="29" name="Image 0" descr="C:\Users\lolsi\AppData\Local\Temp\claude\C--Users-lolsi-Downloads-STAGE-PCTO-Progecto17-08-2026\2050da16-5c32-4892-8f84-bafdce51ee22\scratchpad\deck\phones\cadu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2321403" cy="466344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549640" y="1938528"/>
            <a:ext cx="3090672" cy="1965960"/>
          </a:xfrm>
          <a:prstGeom prst="roundRect">
            <a:avLst>
              <a:gd name="adj" fmla="val 6512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78240" y="21671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357" y="2281245"/>
            <a:ext cx="247254" cy="24725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937260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il rider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8778240" y="2779776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Serenità nei turni serali, notturni e con la pioggia: se perde conoscenza, l'allarme parte da solo con la sua posizione.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8549640" y="4087368"/>
            <a:ext cx="3090672" cy="1965960"/>
          </a:xfrm>
          <a:prstGeom prst="roundRect">
            <a:avLst>
              <a:gd name="adj" fmla="val 6512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778240" y="431596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357" y="4430085"/>
            <a:ext cx="247254" cy="247254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9372600" y="4361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l'azienda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8778240" y="4928616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Sicurezza sul lavoro documentata con dati oggettivi, utili anche per negoziare polizze di flotta più convenienti.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rider pedala da solo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Gruppi di rider con chat in tempo reale, posizioni sulla mappa e SOS condivisi.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12603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12603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pic>
        <p:nvPicPr>
          <p:cNvPr id="9" name="Image 0" descr="C:\Users\lolsi\AppData\Local\Temp\claude\C--Users-lolsi-Downloads-STAGE-PCTO-Progecto17-08-2026\2050da16-5c32-4892-8f84-bafdce51ee22\scratchpad\deck\phones\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321403" cy="4663440"/>
          </a:xfrm>
          <a:prstGeom prst="rect">
            <a:avLst/>
          </a:prstGeom>
        </p:spPr>
      </p:pic>
      <p:pic>
        <p:nvPicPr>
          <p:cNvPr id="10" name="Image 1" descr="C:\Users\lolsi\AppData\Local\Temp\claude\C--Users-lolsi-Downloads-STAGE-PCTO-Progecto17-08-2026\2050da16-5c32-4892-8f84-bafdce51ee22\scratchpad\deck\phones\home_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00200"/>
            <a:ext cx="2321403" cy="4663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72200" y="1965960"/>
            <a:ext cx="603504" cy="603504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041" y="2110801"/>
            <a:ext cx="313822" cy="31382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95160" y="19842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Gruppi con codice o link d'invito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995160" y="23134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Ruoli, inviti revocabili e uscita dal gruppo in un tocco.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72200" y="3044952"/>
            <a:ext cx="603504" cy="603504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041" y="3189793"/>
            <a:ext cx="313822" cy="31382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95160" y="30632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 tempo reale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995160" y="33924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Messaggi e posizione condivisa; i messaggi persi si recuperano dopo una disconnessione.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172200" y="4123944"/>
            <a:ext cx="603504" cy="603504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041" y="4268785"/>
            <a:ext cx="313822" cy="31382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95160" y="41422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Posizioni dei compagni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995160" y="44714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per chi sceglie di condividerle e solo mentre pedala.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172200" y="5202936"/>
            <a:ext cx="603504" cy="603504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041" y="5347777"/>
            <a:ext cx="313822" cy="31382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95160" y="52212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 visibile al gruppo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6995160" y="55504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un compagno cade, chi è vicino lo vede subito in Home e sulla mappa.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CONSEGNE E GUADAGNI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Dall'ordine al guadagno, tutto tracciato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pannello di amministrazione crea gli ordini; il rider li accetta, ritira e consegna dall'app.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12603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12603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7607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130552"/>
            <a:ext cx="603504" cy="603504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649" y="2275393"/>
            <a:ext cx="313822" cy="31382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54480" y="20848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Nuovo ordine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 dal pannello admin, con notifica push ai rider disponibili.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44952"/>
            <a:ext cx="57607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" y="3209544"/>
            <a:ext cx="603504" cy="603504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49" y="3354385"/>
            <a:ext cx="313822" cy="31382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31638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Accetta, ritira, consegna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554480" y="3502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ordine attivo per rider; se due rider accettano insieme, vince solo il primo.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123944"/>
            <a:ext cx="57607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49808" y="4288536"/>
            <a:ext cx="603504" cy="603504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49" y="4433377"/>
            <a:ext cx="313822" cy="31382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554480" y="42428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Puntualità misurata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554480" y="45811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Ogni consegna è confrontata con l'orario promesso al cliente.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5202936"/>
            <a:ext cx="57607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49808" y="5367528"/>
            <a:ext cx="603504" cy="603504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49" y="5512369"/>
            <a:ext cx="313822" cy="31382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54480" y="53218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Guadagni e storico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554480" y="56601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Guadagni per giorno, settimana e mese, esportabili in CSV.</a:t>
            </a:r>
            <a:endParaRPr lang="en-US" sz="1200" dirty="0"/>
          </a:p>
        </p:txBody>
      </p:sp>
      <p:pic>
        <p:nvPicPr>
          <p:cNvPr id="29" name="Image 4" descr="C:\Users\lolsi\AppData\Local\Temp\claude\C--Users-lolsi-Downloads-STAGE-PCTO-Progecto17-08-2026\2050da16-5c32-4892-8f84-bafdce51ee22\scratchpad\deck\phones\conseg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600200"/>
            <a:ext cx="2321403" cy="4663440"/>
          </a:xfrm>
          <a:prstGeom prst="rect">
            <a:avLst/>
          </a:prstGeom>
        </p:spPr>
      </p:pic>
      <p:pic>
        <p:nvPicPr>
          <p:cNvPr id="30" name="Image 5" descr="C:\Users\lolsi\AppData\Local\Temp\claude\C--Users-lolsi-Downloads-STAGE-PCTO-Progecto17-08-2026\2050da16-5c32-4892-8f84-bafdce51ee22\scratchpad\deck\phones\guadagn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1600200"/>
            <a:ext cx="2321403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GAMIFICATION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Premiare chi guida bene, non chi corre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Trasformare il turno in un percorso che premia prudenza e qualità, invece della corsa contro il tempo.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833811" y="411480"/>
            <a:ext cx="809244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3811" y="411480"/>
            <a:ext cx="80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393631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93631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pic>
        <p:nvPicPr>
          <p:cNvPr id="11" name="Image 0" descr="C:\Users\lolsi\AppData\Local\Temp\claude\C--Users-lolsi-Downloads-STAGE-PCTO-Progecto17-08-2026\2050da16-5c32-4892-8f84-bafdce51ee22\scratchpad\deck\phones\puntegg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321403" cy="46634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246120" y="1920240"/>
            <a:ext cx="4069080" cy="4251960"/>
          </a:xfrm>
          <a:prstGeom prst="roundRect">
            <a:avLst>
              <a:gd name="adj" fmla="val 3146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214884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0440" y="214884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Punteggio trasparente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3154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punti per ogni km pedalato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3813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3813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punti per ogni consegna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520440" y="44714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44714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consegnata in orario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51663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Ogni giorno anche puntualità e guida sicura (percorsi senza cadute). Regole visibili al rider: nessun algoritmo opaco.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89520" y="1920240"/>
            <a:ext cx="4050792" cy="4251960"/>
          </a:xfrm>
          <a:prstGeom prst="roundRect">
            <a:avLst>
              <a:gd name="adj" fmla="val 3160"/>
            </a:avLst>
          </a:prstGeom>
          <a:solidFill>
            <a:srgbClr val="FDF3DD"/>
          </a:solidFill>
          <a:ln w="9525">
            <a:solidFill>
              <a:srgbClr val="FDF3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63840" y="2148840"/>
            <a:ext cx="809244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0" y="2148840"/>
            <a:ext cx="80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514" y="2783434"/>
            <a:ext cx="285293" cy="285293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549640" y="27249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Classifiche e livelli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863840" y="33101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 come «Gold Pro»: i rider più affidabili hanno priorità sulle fasce orarie e sugli ordini con mance maggiori.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863840" y="4343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4" y="4475074"/>
            <a:ext cx="285293" cy="285293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549640" y="44165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Incentivi economici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863840" y="50017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reali per la guida sicura su un wallet digitale certificato: meno frustrazione, più guida corretta.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Architettura cloud a microservizi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gestione di utenti e business è separata dal flusso GPS ad alta frequenza: si scala una parte senza toccare l'altra.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12603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12603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18242A"/>
          </a:solidFill>
          <a:ln w="15875">
            <a:solidFill>
              <a:srgbClr val="9BE1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9125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Android nativa o web app (PWA)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3063240"/>
            <a:ext cx="1600200" cy="1234440"/>
          </a:xfrm>
          <a:prstGeom prst="roundRect">
            <a:avLst>
              <a:gd name="adj" fmla="val 8889"/>
            </a:avLst>
          </a:prstGeom>
          <a:solidFill>
            <a:srgbClr val="18242A"/>
          </a:solidFill>
          <a:ln w="15875">
            <a:solidFill>
              <a:srgbClr val="2232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31912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520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HTTPS, sicurezza, limiti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66360" y="1920240"/>
            <a:ext cx="2834640" cy="1325880"/>
          </a:xfrm>
          <a:prstGeom prst="roundRect">
            <a:avLst>
              <a:gd name="adj" fmla="val 8276"/>
            </a:avLst>
          </a:prstGeom>
          <a:solidFill>
            <a:srgbClr val="18242A"/>
          </a:solidFill>
          <a:ln w="15875">
            <a:solidFill>
              <a:srgbClr val="2232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0" y="20482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API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377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Utenti, gruppi, ordini, SOS, chat in tempo reale (WebSocket)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4114800"/>
            <a:ext cx="2834640" cy="1325880"/>
          </a:xfrm>
          <a:prstGeom prst="roundRect">
            <a:avLst>
              <a:gd name="adj" fmla="val 8276"/>
            </a:avLst>
          </a:prstGeom>
          <a:solidFill>
            <a:srgbClr val="18242A"/>
          </a:solidFill>
          <a:ln w="15875">
            <a:solidFill>
              <a:srgbClr val="2232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4242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4572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Riceve i punti GPS dei rider, in blocchi, anche dopo l'assenza di rete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411480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18242A"/>
          </a:solidFill>
          <a:ln w="15875">
            <a:solidFill>
              <a:srgbClr val="2232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0" y="42428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45720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Coda: nessun punto perso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95560" y="4114800"/>
            <a:ext cx="1444752" cy="1325880"/>
          </a:xfrm>
          <a:prstGeom prst="roundRect">
            <a:avLst>
              <a:gd name="adj" fmla="val 8276"/>
            </a:avLst>
          </a:prstGeom>
          <a:solidFill>
            <a:srgbClr val="18242A"/>
          </a:solidFill>
          <a:ln w="15875">
            <a:solidFill>
              <a:srgbClr val="2232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32720" y="424281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worker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332720" y="457200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Percorsi GPX, km, pause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58200" y="192024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18242A"/>
          </a:solidFill>
          <a:ln w="15875">
            <a:solidFill>
              <a:srgbClr val="2232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95360" y="20482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0" y="23774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Dati e storico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195560" y="1920240"/>
            <a:ext cx="1444752" cy="1325880"/>
          </a:xfrm>
          <a:prstGeom prst="roundRect">
            <a:avLst>
              <a:gd name="adj" fmla="val 8276"/>
            </a:avLst>
          </a:prstGeom>
          <a:solidFill>
            <a:srgbClr val="18242A"/>
          </a:solidFill>
          <a:ln w="15875">
            <a:solidFill>
              <a:srgbClr val="2232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32720" y="204825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237744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Posizioni live, sessioni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06040" y="3675888"/>
            <a:ext cx="457200" cy="0"/>
          </a:xfrm>
          <a:prstGeom prst="line">
            <a:avLst/>
          </a:prstGeom>
          <a:noFill/>
          <a:ln w="22225">
            <a:solidFill>
              <a:srgbClr val="9BE19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4663440" y="2606040"/>
            <a:ext cx="502920" cy="1069848"/>
          </a:xfrm>
          <a:prstGeom prst="line">
            <a:avLst/>
          </a:prstGeom>
          <a:noFill/>
          <a:ln w="22225">
            <a:solidFill>
              <a:srgbClr val="9BE19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663440" y="3675888"/>
            <a:ext cx="502920" cy="1097280"/>
          </a:xfrm>
          <a:prstGeom prst="line">
            <a:avLst/>
          </a:prstGeom>
          <a:noFill/>
          <a:ln w="22225">
            <a:solidFill>
              <a:srgbClr val="9BE19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01000" y="2578608"/>
            <a:ext cx="457200" cy="0"/>
          </a:xfrm>
          <a:prstGeom prst="line">
            <a:avLst/>
          </a:prstGeom>
          <a:noFill/>
          <a:ln w="22225">
            <a:solidFill>
              <a:srgbClr val="9BE19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001000" y="4773168"/>
            <a:ext cx="457200" cy="0"/>
          </a:xfrm>
          <a:prstGeom prst="line">
            <a:avLst/>
          </a:prstGeom>
          <a:noFill/>
          <a:ln w="22225">
            <a:solidFill>
              <a:srgbClr val="9BE19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921240" y="4773168"/>
            <a:ext cx="274320" cy="0"/>
          </a:xfrm>
          <a:prstGeom prst="line">
            <a:avLst/>
          </a:prstGeom>
          <a:noFill/>
          <a:ln w="22225">
            <a:solidFill>
              <a:srgbClr val="9BE19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917936" y="3246120"/>
            <a:ext cx="0" cy="868680"/>
          </a:xfrm>
          <a:prstGeom prst="line">
            <a:avLst/>
          </a:prstGeom>
          <a:noFill/>
          <a:ln w="22225">
            <a:solidFill>
              <a:srgbClr val="9BE19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" y="5760720"/>
            <a:ext cx="1687068" cy="365760"/>
          </a:xfrm>
          <a:prstGeom prst="roundRect">
            <a:avLst>
              <a:gd name="adj" fmla="val 50000"/>
            </a:avLst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760720"/>
            <a:ext cx="168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servizi Docker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00300" y="5760720"/>
            <a:ext cx="2153412" cy="365760"/>
          </a:xfrm>
          <a:prstGeom prst="roundRect">
            <a:avLst>
              <a:gd name="adj" fmla="val 50000"/>
            </a:avLst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400300" y="5760720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Notifiche push Firebase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18304" y="5760720"/>
            <a:ext cx="1764792" cy="365760"/>
          </a:xfrm>
          <a:prstGeom prst="roundRect">
            <a:avLst>
              <a:gd name="adj" fmla="val 50000"/>
            </a:avLst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718304" y="576072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giornalieri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647688" y="5760720"/>
            <a:ext cx="3552444" cy="365760"/>
          </a:xfrm>
          <a:prstGeom prst="roundRect">
            <a:avLst>
              <a:gd name="adj" fmla="val 50000"/>
            </a:avLst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47688" y="5760720"/>
            <a:ext cx="3552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Pronto per un server o per il PC + tunnel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solido, testato e verificato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Ogni modifica passa da test automatici e da integrazione continua su GitHub Actions.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12603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12603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633472" cy="1874520"/>
          </a:xfrm>
          <a:prstGeom prst="roundRect">
            <a:avLst>
              <a:gd name="adj" fmla="val 6829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automatici backend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4992" y="1920240"/>
            <a:ext cx="2633472" cy="1874520"/>
          </a:xfrm>
          <a:prstGeom prst="roundRect">
            <a:avLst>
              <a:gd name="adj" fmla="val 6829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21024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294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automatici frontend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920240"/>
            <a:ext cx="2633472" cy="1874520"/>
          </a:xfrm>
          <a:prstGeom prst="roundRect">
            <a:avLst>
              <a:gd name="adj" fmla="val 6829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7376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end-to-end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reale, Playwright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97696" y="1920240"/>
            <a:ext cx="2633472" cy="1874520"/>
          </a:xfrm>
          <a:prstGeom prst="roundRect">
            <a:avLst>
              <a:gd name="adj" fmla="val 6829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53728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vulnerabilità note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53728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nelle dipendenze (npm audit)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4297680"/>
            <a:ext cx="548640" cy="548640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4429354"/>
            <a:ext cx="285293" cy="285293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481328" y="431596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by design (GDPR)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04672" y="5010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Esportazione dei dati personali, cancellazione dell'account e tempi di conservazione dichiarati.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15968" y="4069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0" y="4297680"/>
            <a:ext cx="548640" cy="548640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4429354"/>
            <a:ext cx="285293" cy="285293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248656" y="431596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giornalieri verificati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4572000" y="5010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 di database e percorsi ogni 24 ore, con prova di ripristino automatica.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8083296" y="4069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339328" y="4297680"/>
            <a:ext cx="548640" cy="548640"/>
          </a:xfrm>
          <a:prstGeom prst="ellipse">
            <a:avLst/>
          </a:prstGeom>
          <a:solidFill>
            <a:srgbClr val="EEF8EC"/>
          </a:solidFill>
          <a:ln w="12700">
            <a:solidFill>
              <a:srgbClr val="EEF8EC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002" y="4429354"/>
            <a:ext cx="285293" cy="285293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9015984" y="431596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di sicurezza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8339328" y="5010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497 richieste malevole o incrociate: nessun errore e nessun accesso ai dati di altri utenti.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 DI VALORE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ritorno per le aziende di delivery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 per food delivery, e-commerce e corrieri urbani. Gli obiettivi numerici saranno misurati nel pilota 2027.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660075" y="411480"/>
            <a:ext cx="982980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60075" y="411480"/>
            <a:ext cx="982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OBIETTIVO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219895" y="4114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19895" y="41148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5449824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22219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Pronta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41248" y="320040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20040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senza costi di R&amp;D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6791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software funziona già: nessun investimento milionario per partire da zero. Integrazione via API con i gestionali esistenti.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0488" y="1965960"/>
            <a:ext cx="5449824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64808" y="22219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−40%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483096" y="3200400"/>
            <a:ext cx="982980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83096" y="3200400"/>
            <a:ext cx="982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OBIETTIVO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385048" y="2240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Furti e smarrimenti di bici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385048" y="267919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Obiettivo con lo Smart Lock a telaio e la telemetria GPS continua, che permette anche di recuperare i mezzi.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5449824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4370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−30%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841248" y="5349240"/>
            <a:ext cx="982980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5349240"/>
            <a:ext cx="982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OBIETTIVO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4389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Turnover dei rider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482803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Obiettivo con incentivi alla guida sicura e tutele contro gli infortuni: meno abbandoni, meno costi di selezione.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0488" y="4114800"/>
            <a:ext cx="5449824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64808" y="4370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km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6483096" y="534924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83096" y="5349240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FUNZIONA OGGI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385048" y="4389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Manutenzione preventiva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8385048" y="482803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km di ogni bici sono già registrati: la base per avvisare su freni, catene e copertoni prima del guasto.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MODELLO DI BUSINESS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Piani per le flotte: SaaS per bici attiva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Ricavi ricorrenti che crescono con la flotta. Listino proposto, da validare con i primi clienti.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833811" y="411480"/>
            <a:ext cx="809244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3811" y="411480"/>
            <a:ext cx="80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INIZIARE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Flotta Base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mese per bici attiva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0690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di monitoraggio della flotta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rider multilingua, utenti illimitati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Tracciamento GPS in tempo reale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Supporto via ticket entro 12 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5968" y="192024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0F171A"/>
          </a:solidFill>
          <a:ln w="9525">
            <a:solidFill>
              <a:srgbClr val="0F17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0288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CONSIGLIATO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90288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Flotta Pro + SOS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€19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mese per bici attiva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90288" y="40690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Tutto il piano Base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Rilevamento cadute e protocollo SOS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Punteggio, classifiche e incentivi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km per la manutenzione programmata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83296" y="192024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57616" y="2148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GRANDI FLOTTE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57616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 Hardware &amp; Enterprise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57616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 misura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357616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vendita o noleggio operativo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406908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Centraline IoT MPU-6050 e Smart Lock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Integrazione API REST/WebSocket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Officine meccaniche convenzionate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Assistenza prioritaria 24/7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OLTRE IL SAAS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ecosistema di ricavi a impatto sociale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 business plan 2027–2029 di Rider of Riders Srl Benefit: più fonti di ricavo, un'unica missione.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833811" y="411480"/>
            <a:ext cx="809244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3811" y="411480"/>
            <a:ext cx="80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18242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86000"/>
            <a:ext cx="731520" cy="731520"/>
          </a:xfrm>
          <a:prstGeom prst="ellipse">
            <a:avLst/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461565"/>
            <a:ext cx="380390" cy="38039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296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Consegne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977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Commissioni sulle consegne svolte dalla flotta RoR.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88920" y="201168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18242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63240" y="2286000"/>
            <a:ext cx="731520" cy="731520"/>
          </a:xfrm>
          <a:prstGeom prst="ellipse">
            <a:avLst/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805" y="246156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06324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di prossimità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063240" y="3977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Prodotti ad alto margine consegnati sotto casa dai rider.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029200" y="201168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18242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03520" y="2286000"/>
            <a:ext cx="731520" cy="731520"/>
          </a:xfrm>
          <a:prstGeom prst="ellipse">
            <a:avLst/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085" y="246156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0352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Sostieni un rider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3977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Micro-abbonamenti dei cittadini (da 1 a 10 € al giorno) che finanziano le tutele.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269480" y="201168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18242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43800" y="2286000"/>
            <a:ext cx="731520" cy="731520"/>
          </a:xfrm>
          <a:prstGeom prst="ellipse">
            <a:avLst/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365" y="2461565"/>
            <a:ext cx="380390" cy="38039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4380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Tutele su 3 livelli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543800" y="3977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Lavoro, persona e famiglia, con broker assicurativi partner.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509760" y="2011680"/>
            <a:ext cx="2103120" cy="3154680"/>
          </a:xfrm>
          <a:prstGeom prst="roundRect">
            <a:avLst>
              <a:gd name="adj" fmla="val 6087"/>
            </a:avLst>
          </a:prstGeom>
          <a:solidFill>
            <a:srgbClr val="18242A"/>
          </a:solidFill>
          <a:ln w="12700">
            <a:solidFill>
              <a:srgbClr val="22323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784080" y="2286000"/>
            <a:ext cx="731520" cy="731520"/>
          </a:xfrm>
          <a:prstGeom prst="ellipse">
            <a:avLst/>
          </a:prstGeom>
          <a:solidFill>
            <a:srgbClr val="22323A"/>
          </a:solidFill>
          <a:ln w="12700">
            <a:solidFill>
              <a:srgbClr val="22323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9645" y="2461565"/>
            <a:ext cx="380390" cy="38039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84080" y="3246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ESG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784080" y="3977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Metriche sociali verificabili per la rendicontazione CSRD delle aziende clienti.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48640" y="5440680"/>
            <a:ext cx="11094415" cy="658368"/>
          </a:xfrm>
          <a:prstGeom prst="roundRect">
            <a:avLst>
              <a:gd name="adj" fmla="val 50000"/>
            </a:avLst>
          </a:prstGeom>
          <a:solidFill>
            <a:srgbClr val="22323A"/>
          </a:solidFill>
          <a:ln w="12700">
            <a:solidFill>
              <a:srgbClr val="9BE19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577840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440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Srl Benefit: lo statuto lega l'impresa alla dignità del lavoro e al welfare dei rider (infortuni, pensione, famiglia).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PROIEZIONI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10 a 1.000 rider in tre anni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Stima prudente: il valore delle consegne non è ricavo di RoR. Ipotesi esplicite, da validare con il pilota.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833811" y="411480"/>
            <a:ext cx="809244" cy="31089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3811" y="411480"/>
            <a:ext cx="8092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VISIONE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52120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486400"/>
            <a:ext cx="5212080" cy="822960"/>
          </a:xfrm>
          <a:prstGeom prst="roundRect">
            <a:avLst>
              <a:gd name="adj" fmla="val 15556"/>
            </a:avLst>
          </a:prstGeom>
          <a:solidFill>
            <a:srgbClr val="F6F8F7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550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Ipotesi: 330 consegne al mese per rider a €5,50 (€1.800), RoR trattiene il 15%; SaaS €17 per bici al mese su 300 (2028) e 3.000 (2029) bici di aziende clienti; marketplace e «Sostieni un rider» €40 per rider al mese.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1783080"/>
            <a:ext cx="5605272" cy="1371600"/>
          </a:xfrm>
          <a:prstGeom prst="roundRect">
            <a:avLst>
              <a:gd name="adj" fmla="val 9333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2027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514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 •  10 rider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CONSEGNE GESTITE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€216k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62288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RICAVI RoR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9162288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€37k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0415016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RISULTATO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0415016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−€129k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0415016" y="2734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coperto dal seed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35040" y="3300984"/>
            <a:ext cx="5605272" cy="1371600"/>
          </a:xfrm>
          <a:prstGeom prst="roundRect">
            <a:avLst>
              <a:gd name="adj" fmla="val 9333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63640" y="34838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2028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40325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Crescita  •  100 rider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909560" y="3502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CONSEGNE GESTITE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3758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€2,2M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162288" y="3502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RICAVI RoR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9162288" y="3758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€433k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10415016" y="3502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RISULTATO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10415016" y="3758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−€31k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10415016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quasi in pareggio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035040" y="4818888"/>
            <a:ext cx="5605272" cy="1371600"/>
          </a:xfrm>
          <a:prstGeom prst="roundRect">
            <a:avLst>
              <a:gd name="adj" fmla="val 9333"/>
            </a:avLst>
          </a:prstGeom>
          <a:solidFill>
            <a:srgbClr val="0F171A"/>
          </a:solidFill>
          <a:ln w="9525">
            <a:solidFill>
              <a:srgbClr val="0F171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63640" y="5001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2029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6263640" y="55504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  •  1.000 rider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909560" y="50200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CONSEGNE GESTITE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7909560" y="52760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€21,6M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162288" y="50200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RICAVI RoR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9162288" y="52760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€4,3M</a:t>
            </a:r>
            <a:endParaRPr lang="en-US" sz="1900" dirty="0"/>
          </a:p>
        </p:txBody>
      </p:sp>
      <p:sp>
        <p:nvSpPr>
          <p:cNvPr id="39" name="Text 36"/>
          <p:cNvSpPr txBox="1"/>
          <p:nvPr/>
        </p:nvSpPr>
        <p:spPr>
          <a:xfrm>
            <a:off x="10415016" y="50200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RISULTATO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10415016" y="52760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+€2,4M</a:t>
            </a:r>
            <a:endParaRPr lang="en-US" sz="1900" dirty="0"/>
          </a:p>
        </p:txBody>
      </p:sp>
      <p:sp>
        <p:nvSpPr>
          <p:cNvPr id="41" name="Text 38"/>
          <p:cNvSpPr txBox="1"/>
          <p:nvPr/>
        </p:nvSpPr>
        <p:spPr>
          <a:xfrm>
            <a:off x="10415016" y="5769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margine del 55%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 software pronto alla scala metropolitana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Tappe allineate al business plan; le fasi successive dipendono dal finanziamento.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0545775" cy="0"/>
          </a:xfrm>
          <a:prstGeom prst="line">
            <a:avLst/>
          </a:prstGeom>
          <a:noFill/>
          <a:ln w="38100">
            <a:solidFill>
              <a:srgbClr val="DDF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148840"/>
            <a:ext cx="365760" cy="365760"/>
          </a:xfrm>
          <a:prstGeom prst="ellipse">
            <a:avLst/>
          </a:prstGeom>
          <a:solidFill>
            <a:srgbClr val="72CA67"/>
          </a:solidFill>
          <a:ln w="31750">
            <a:solidFill>
              <a:srgbClr val="72CA6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2128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OGGI  •  2026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EEF8EC"/>
          </a:solidFill>
          <a:ln w="9525">
            <a:solidFill>
              <a:srgbClr val="DDF1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completo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61188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Android + web app + cloud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Provata su Android reale (29/09)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Mappa di Milano con i POI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0" y="2148840"/>
            <a:ext cx="365760" cy="365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2CA6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8892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2027  •  POC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88920" y="274320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6F8F7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7180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Prova di concetto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361188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bici attrezzate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team e i primi rider volontari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Telemetria e cadute sul campo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97880" y="2148840"/>
            <a:ext cx="365760" cy="365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2CA6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2027  •  MVP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0" y="274320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6F8F7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1208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 10 rider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361188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Zona Garibaldi–Baiamonti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di prossimità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«Sostieni un rider»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2148840"/>
            <a:ext cx="365760" cy="365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2CA6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2028  •  CRESCITA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269480" y="274320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6F8F7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5236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rider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361188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Accordi con aziende di food delivery ed e-commerce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Cruscotto multi-città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378440" y="2148840"/>
            <a:ext cx="365760" cy="365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2CA6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0976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2029  •  SCALA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509760" y="274320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6F8F7"/>
          </a:solidFill>
          <a:ln w="9525">
            <a:solidFill>
              <a:srgbClr val="E2EAE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9264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1.000 rider</a:t>
            </a:r>
            <a:endParaRPr lang="en-US" sz="1550" dirty="0"/>
          </a:p>
        </p:txBody>
      </p:sp>
      <p:sp>
        <p:nvSpPr>
          <p:cNvPr id="33" name="Text 30"/>
          <p:cNvSpPr txBox="1"/>
          <p:nvPr/>
        </p:nvSpPr>
        <p:spPr>
          <a:xfrm>
            <a:off x="9692640" y="361188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metropolitana di Milano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 Roma, Torino, Bologna, Napoli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AI e manutenzione predittiva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897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date dal 2027 in poi dipendono dal finanziamento e dai risultati del pilota.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TEAM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persone dietro Rider of Riders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team che ha progettato e sviluppato la piattaforma, pronto a guidare il pilota a Milano.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6334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08176" y="2194560"/>
            <a:ext cx="914400" cy="914400"/>
          </a:xfrm>
          <a:prstGeom prst="ellipse">
            <a:avLst/>
          </a:prstGeom>
          <a:solidFill>
            <a:srgbClr val="DDF1D9"/>
          </a:solidFill>
          <a:ln w="19050">
            <a:solidFill>
              <a:srgbClr val="72CA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08176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4612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Membro del team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050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Co-founder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4992" y="1920240"/>
            <a:ext cx="26334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4528" y="2194560"/>
            <a:ext cx="914400" cy="914400"/>
          </a:xfrm>
          <a:prstGeom prst="ellipse">
            <a:avLst/>
          </a:prstGeom>
          <a:solidFill>
            <a:srgbClr val="DDF1D9"/>
          </a:solidFill>
          <a:ln w="19050">
            <a:solidFill>
              <a:srgbClr val="72CA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324612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Membro del team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40050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Co-founder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1920240"/>
            <a:ext cx="26334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2194560"/>
            <a:ext cx="914400" cy="914400"/>
          </a:xfrm>
          <a:prstGeom prst="ellipse">
            <a:avLst/>
          </a:prstGeom>
          <a:solidFill>
            <a:srgbClr val="DDF1D9"/>
          </a:solidFill>
          <a:ln w="19050">
            <a:solidFill>
              <a:srgbClr val="72CA6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324612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Membro del team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40050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Co-founder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97696" y="1920240"/>
            <a:ext cx="26334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2EA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57232" y="2194560"/>
            <a:ext cx="914400" cy="914400"/>
          </a:xfrm>
          <a:prstGeom prst="ellipse">
            <a:avLst/>
          </a:prstGeom>
          <a:solidFill>
            <a:srgbClr val="DDF1D9"/>
          </a:solidFill>
          <a:ln w="19050">
            <a:solidFill>
              <a:srgbClr val="72CA6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57232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324612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Membro del team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40050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Co-founder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1094415" cy="1325880"/>
          </a:xfrm>
          <a:prstGeom prst="roundRect">
            <a:avLst>
              <a:gd name="adj" fmla="val 9655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956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CIÒ CHE ABBIAMO GIÀ COSTRUITO INSIEME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458968"/>
            <a:ext cx="237744" cy="23774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389888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Android e web app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3566160" y="5349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5458968"/>
            <a:ext cx="237744" cy="23774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133088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cloud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6309360" y="5349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5458968"/>
            <a:ext cx="237744" cy="23774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6876288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425 test automatici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9052560" y="5349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5458968"/>
            <a:ext cx="237744" cy="23774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619488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plan 2027–2029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INVESTIMENTO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Cerchiamo €1,2 milioni in due fasi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167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passare dal software già pronto a una flotta di 1.000 rider a Milano.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20440" cy="3429000"/>
          </a:xfrm>
          <a:prstGeom prst="roundRect">
            <a:avLst>
              <a:gd name="adj" fmla="val 3733"/>
            </a:avLst>
          </a:prstGeom>
          <a:solidFill>
            <a:srgbClr val="18242A"/>
          </a:solidFill>
          <a:ln w="15875">
            <a:solidFill>
              <a:srgbClr val="2232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871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€200.000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Prova di concetto e MVP (2027)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Bici attrezzate e kit antifurto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 10 rider e costituzione della Srl Benefit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Accordi con broker e fondazioni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51960" y="1965960"/>
            <a:ext cx="3520440" cy="3429000"/>
          </a:xfrm>
          <a:prstGeom prst="roundRect">
            <a:avLst>
              <a:gd name="adj" fmla="val 3733"/>
            </a:avLst>
          </a:prstGeom>
          <a:solidFill>
            <a:srgbClr val="22323A"/>
          </a:solidFill>
          <a:ln w="15875">
            <a:solidFill>
              <a:srgbClr val="9BE19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SERIE 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871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€1.000.000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 (2028–2029)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79476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10 a 1.000 rider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e abbonamenti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operativo e partnership con le aziende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1965960"/>
            <a:ext cx="3547872" cy="3429000"/>
          </a:xfrm>
          <a:prstGeom prst="roundRect">
            <a:avLst>
              <a:gd name="adj" fmla="val 3733"/>
            </a:avLst>
          </a:prstGeom>
          <a:solidFill>
            <a:srgbClr val="EEF8EC"/>
          </a:solidFill>
          <a:ln w="9525">
            <a:solidFill>
              <a:srgbClr val="EEF8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194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COSA C'È GIÀ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606040"/>
            <a:ext cx="3063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funzionante e testata su Android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Infrastruttura cloud pronta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plan triennale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Sede operativa prevista in Via Enrico Tazzoli 13, Milano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Officina meccanica partner per l'hardware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software è già pronto: l'investimento va sulle persone e sulle bici, non sullo sviluppo da zero.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Presentazione per investitori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-2011680" y="3291840"/>
            <a:ext cx="5943600" cy="5943600"/>
          </a:xfrm>
          <a:prstGeom prst="ellipse">
            <a:avLst/>
          </a:prstGeom>
          <a:solidFill>
            <a:srgbClr val="9BE191">
              <a:alpha val="8000"/>
            </a:srgbClr>
          </a:solidFill>
          <a:ln w="12700">
            <a:solidFill>
              <a:srgbClr val="9BE19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E1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PEDALIAMO INSIEME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delivery urbano più sicuro e più giusto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 furti, più sicurezza per i rider e controllo dei costi per le aziende, con una tecnologia che funziona già oggi.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4480560" cy="566928"/>
          </a:xfrm>
          <a:prstGeom prst="roundRect">
            <a:avLst>
              <a:gd name="adj" fmla="val 50000"/>
            </a:avLst>
          </a:prstGeom>
          <a:solidFill>
            <a:srgbClr val="9BE191"/>
          </a:solidFill>
          <a:ln w="12700">
            <a:solidFill>
              <a:srgbClr val="9BE19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1605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Chiedeteci una demo dal vivo dell'app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74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 •  Milano, Italia  •  lolsiempremarina@gmail.com</a:t>
            </a:r>
            <a:endParaRPr lang="en-US" sz="1200" dirty="0"/>
          </a:p>
        </p:txBody>
      </p:sp>
      <p:pic>
        <p:nvPicPr>
          <p:cNvPr id="11" name="Image 0" descr="C:\Users\lolsi\AppData\Local\Temp\claude\C--Users-lolsi-Downloads-STAGE-PCTO-Progecto17-08-2026\2050da16-5c32-4892-8f84-bafdce51ee22\scratchpad\deck\phones\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548640"/>
            <a:ext cx="2776580" cy="5577840"/>
          </a:xfrm>
          <a:prstGeom prst="rect">
            <a:avLst/>
          </a:prstGeom>
        </p:spPr>
      </p:pic>
      <p:pic>
        <p:nvPicPr>
          <p:cNvPr id="12" name="Image 1" descr="C:\Users\lolsi\AppData\Local\Temp\claude\C--Users-lolsi-Downloads-STAGE-PCTO-Progecto17-08-2026\2050da16-5c32-4892-8f84-bafdce51ee22\scratchpad\deck\phones\trac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914400"/>
            <a:ext cx="2776580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Rider of Riders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Rider of Riders - Presentazione per investitori</dc:title>
  <dc:subject>PptxGenJS Presentation</dc:subject>
  <dc:creator>Rider of Riders</dc:creator>
  <cp:lastModifiedBy>Rider of Riders</cp:lastModifiedBy>
  <cp:revision>1</cp:revision>
  <dcterms:created xsi:type="dcterms:W3CDTF">2026-09-29T09:38:24Z</dcterms:created>
  <dcterms:modified xsi:type="dcterms:W3CDTF">2026-09-29T09:38:24Z</dcterms:modified>
</cp:coreProperties>
</file>