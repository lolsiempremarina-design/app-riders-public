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731520"/>
            <a:ext cx="10725912" cy="5394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232F4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234440"/>
            <a:ext cx="3291840" cy="365760"/>
          </a:xfrm>
          <a:prstGeom prst="roundRect">
            <a:avLst/>
          </a:prstGeom>
          <a:solidFill>
            <a:srgbClr val="1B283A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280160" y="12344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ECOSISTEMA PHYGITAL &amp; SMART IOT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280160" y="17830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280160" y="2606040"/>
            <a:ext cx="9601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prima piattaforma tecnologica che trasforma biciclette urbane in veicoli intelligenti connessi,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ottimizzando consegne dell'ultimo miglio, azzerando i furti e proteggendo i rider in strada.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1280160" y="3566160"/>
            <a:ext cx="3017520" cy="164592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508760" y="3794760"/>
            <a:ext cx="54864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64592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Hardware IoT &amp; Sicurezza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508760" y="4206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Sensori di caduta MPU-6050, tracciamento GPS e Smart Lock a telaio controllato da remoto.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3566160"/>
            <a:ext cx="3017520" cy="164592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00600" y="3794760"/>
            <a:ext cx="54864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PWA Reattivo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800600" y="4206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App mobile-first ultraleggera (&lt;50 kB), 60 FPS, mappe ciclabili con POI e funzionamento offline.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863840" y="3566160"/>
            <a:ext cx="3017520" cy="1645920"/>
          </a:xfrm>
          <a:prstGeom prst="roundRect">
            <a:avLst/>
          </a:prstGeom>
          <a:solidFill>
            <a:srgbClr val="0C131F"/>
          </a:solidFill>
          <a:ln w="12700">
            <a:solidFill>
              <a:srgbClr val="24334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92440" y="3794760"/>
            <a:ext cx="54864" cy="32004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37490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Cloud Distribuito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092440" y="4206240"/>
            <a:ext cx="2560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Microservizi FastAPI ad alta frequenza, code RabbitMQ, gestione RBAC e database PostgreSQL.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31520" y="6355080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Executive Pitch Deck per Investitori, Grandi Flotte &amp; Aziende di Delivery • Milano 2026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Sfide Critiche del Delivery Urbano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 limiti operativi che oggi generano perdite economiche, rischi legali e inefficienze per i gestori di flotte.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40280"/>
            <a:ext cx="548640" cy="548640"/>
          </a:xfrm>
          <a:prstGeom prst="roundRect">
            <a:avLst/>
          </a:prstGeom>
          <a:solidFill>
            <a:srgbClr val="24151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783080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Scatola Nera sulla Flotta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783080" y="2697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 aziende non hanno visibilità in tempo reale su posizione dei mezzi, usura meccanica e tragitti effettivi percorsi, causando ritardi e incapacità di pianificare.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40280"/>
            <a:ext cx="548640" cy="548640"/>
          </a:xfrm>
          <a:prstGeom prst="roundRect">
            <a:avLst/>
          </a:prstGeom>
          <a:solidFill>
            <a:srgbClr val="24151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02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223760" y="224028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Sicurezza &amp; Incidenti dei Rider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223760" y="269748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sistema automatico di soccorso in caso di impatti o cadute. Tempi di intervento lenti e pesante esposizione a responsabilità legali e d'immagine.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389120"/>
            <a:ext cx="548640" cy="548640"/>
          </a:xfrm>
          <a:prstGeom prst="roundRect">
            <a:avLst/>
          </a:prstGeom>
          <a:solidFill>
            <a:srgbClr val="24151B"/>
          </a:solidFill>
          <a:ln w="12700">
            <a:solidFill>
              <a:srgbClr val="F8717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03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783080" y="4389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Furti &amp; Perdite di Biciclette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78308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Oltre il 25% dei mezzi subisce tentativi di furto o smarrimento durante i turni, con conseguenti costi di riacquisto e interruzioni improvvise delle consegne.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389120"/>
            <a:ext cx="548640" cy="548640"/>
          </a:xfrm>
          <a:prstGeom prst="roundRect">
            <a:avLst/>
          </a:prstGeom>
          <a:solidFill>
            <a:srgbClr val="24151B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04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223760" y="4389120"/>
            <a:ext cx="3886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Turnover dei Rider al 40%+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223760" y="4846320"/>
            <a:ext cx="3886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Mancanza di incentivi oggettivi e strumenti di lavoro adeguati. L'alto tasso di abbandono costringe le aziende a continui ed onerosi cicli di recruiting.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Soluzione: Ecosistema Phygital Integrato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Unire il veicolo fisico con il cloud e l'esperienza mobile in un'unica piattaforma chiavi in mano.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10712" cy="4251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48840"/>
            <a:ext cx="2834640" cy="32004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1 • HARDWARE &amp; IOT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00584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Bike Connessa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31546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Centralina GPS a basso consumo installata su telaio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38404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Sensore inerziale MPU-6050 a 6 assi per rilevamento cadute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05840" y="45262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Smart Lock elettronico antiscasso azionato via app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5212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Feedback sonori di sicurezza generati da Web Audio API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389120" y="1920240"/>
            <a:ext cx="3410712" cy="4251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38BDF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3440" y="2148840"/>
            <a:ext cx="2834640" cy="32004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2 • MOBILE CLIENT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66344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React PWA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663440" y="31546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Progressive Web App installabile senza dipendere dagli store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663440" y="38404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Funzionamento garantito in galleria o in assenza di rete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663440" y="45262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Cartografia ciclabile con fontanelle, bagni e soste protette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663440" y="5212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Supporto multilingua nativo (Italiano, Spagnolo, Inglese)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8046720" y="1920240"/>
            <a:ext cx="3410712" cy="4251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A7F3D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321040" y="2148840"/>
            <a:ext cx="2834640" cy="32004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321040" y="21488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LIVELLO 3 • CLOUD &amp; DATA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321040" y="260604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Scalabile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321040" y="31546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Pipeline FastAPI per ingestione telemetrica ad alta frequenza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8321040" y="38404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Coda di messaggi RabbitMQ per azzerare la perdita di pacchetti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321040" y="45262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Gestione utenti, gruppi flotta e ruoli RBAC con Flask 3.1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321040" y="5212080"/>
            <a:ext cx="286207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Database relazionale PostgreSQL con storico tracciati GPX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PWA: Progettato per la Strada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Interfaccia reattiva, ad alto contrasto per la luce solare e resiliente a disconnessioni temporanee.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40280"/>
            <a:ext cx="73152" cy="13258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/>
          <p:nvPr/>
        </p:nvSpPr>
        <p:spPr>
          <a:xfrm>
            <a:off x="132588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PWA Mobile-First &amp; Offline-Ready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25880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Service Worker attivo per memorizzare in cache le risorse critiche. Se il rider entra in una zona senza segnale 4G/5G, l'app continua a funzionare salvando i dati localmente.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492240" y="2240280"/>
            <a:ext cx="73152" cy="13258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/>
          <p:nvPr/>
        </p:nvSpPr>
        <p:spPr>
          <a:xfrm>
            <a:off x="6766560" y="224028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Leggerezza Estrema (&lt;50 kB gzipped)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766560" y="269748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framework pesante. Avvio in frazioni di secondo e 60 FPS garantiti anche su smartphone datati, grazie a liste virtualizzate e code splitting modulare.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51560" y="4389120"/>
            <a:ext cx="73152" cy="13258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17" name="Text 15"/>
          <p:cNvSpPr/>
          <p:nvPr/>
        </p:nvSpPr>
        <p:spPr>
          <a:xfrm>
            <a:off x="132588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Cartografia Ciclabile con POI Salvavita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2588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Mappa Leaflet personalizzata con filtri dedicati ai rider urbani: fontanelle di acqua potabile pubblica, servizi igienici e ciclo-stalli sicuri su tutta Milano.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17220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92240" y="4389120"/>
            <a:ext cx="73152" cy="1325880"/>
          </a:xfrm>
          <a:prstGeom prst="rect">
            <a:avLst/>
          </a:prstGeom>
          <a:solidFill>
            <a:srgbClr val="4ADE80"/>
          </a:solidFill>
          <a:ln/>
        </p:spPr>
      </p:sp>
      <p:sp>
        <p:nvSpPr>
          <p:cNvPr id="21" name="Text 19"/>
          <p:cNvSpPr/>
          <p:nvPr/>
        </p:nvSpPr>
        <p:spPr>
          <a:xfrm>
            <a:off x="6766560" y="4389120"/>
            <a:ext cx="4389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Controllo Smart Lock con Audio Web API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766560" y="4846320"/>
            <a:ext cx="4389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Sblocco e blocco del mezzo certificati con suoni sintetizzati via browser: nessun consumo di banda mobile per scaricare file audio e risposta acustica immediata.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Cloud: Architettura a Microservizi Ibrida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Separazione netta tra la gestione dei dati di business e l'elaborazione massiva di telemetria IoT.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960120" y="2148840"/>
            <a:ext cx="2084832" cy="27432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1488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BUSINESS &amp; RBAC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960120" y="26060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Flask 3.1 Core &amp; Security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60120" y="3246120"/>
            <a:ext cx="2084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Gestisce l'autenticazione enterprise con Flask-Security-Too, hashing Argon2/Bcrypt, sessioni protette da cookie HTTP-only e gestione ruoli di flotta avanzata.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456432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85032" y="2148840"/>
            <a:ext cx="2084832" cy="27432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85032" y="21488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INGESTIONE ASINCRONA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685032" y="26060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FastAPI Telemetry Stream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685032" y="3246120"/>
            <a:ext cx="2084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Microservizio ad altissime prestazioni per ricevere migliaia di pacchetti GPS al secondo con latenza sub-secondo, validando e instradando i dati in tempo reale.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181344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409944" y="2148840"/>
            <a:ext cx="2084832" cy="27432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FB92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9944" y="21488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B923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BUFFER RESILIENTE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6409944" y="26060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RabbitMQ Message Broker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09944" y="3246120"/>
            <a:ext cx="2084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Disaccoppia l'ingestione dai worker di calcolo. Garantisce zero perdita di coordinate anche durante i picchi massimi dell'ora di punta serale.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8906256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134856" y="2148840"/>
            <a:ext cx="2084832" cy="274320"/>
          </a:xfrm>
          <a:prstGeom prst="roundRect">
            <a:avLst/>
          </a:prstGeom>
          <a:solidFill>
            <a:srgbClr val="0D1522"/>
          </a:solidFill>
          <a:ln w="12700">
            <a:solidFill>
              <a:srgbClr val="A7F3D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134856" y="2148840"/>
            <a:ext cx="208483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A7F3D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COMPUTATION &amp; DB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9134856" y="2606040"/>
            <a:ext cx="20848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GPS Background Worker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9134856" y="3246120"/>
            <a:ext cx="20848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Elabora le tracce GPX, calcola dislivello, velocità medie effettive e memorizza lo storico sul database relazionale PostgreSQL e cache Redis.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Sicurezza Salva-Vita: Algoritmo FallDetector &amp; SOS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La prima piattaforma a proteggere attivamente l'incolumità fisica dei rider durante il lavoro.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257800" cy="4251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21488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717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Rilevamento Intelligente di Urti &amp; Cadute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51560" y="265176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Grazie ai sensori inerziali a 6 assi MPU-6050 sul telaio della bici, il sistema campiona continuamente accelerazione e inclinazione per intercettare incidenti in tempo reale.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51560" y="347472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1. Rilevamento impatto o rotazione anomala oltre soglia di sicurezza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" y="397764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2. Attivazione immediata del countdown sonoro e visivo di 30 secondi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448056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3. Possibilità per il rider cosciente di annullare l'allarme con un tap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051560" y="498348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4. Inoltro automatico di coordinate GPS e dati dell'urto alla centrale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" y="5486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5. Allerta SMS ed e-mail inviata ai 5 contatti SOS prioritari impostati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72200" y="1920240"/>
            <a:ext cx="5257800" cy="201168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92240" y="21488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il Rider: Lavorare in Totale Sicurezza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492240" y="251460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Tranquillità psicologica durante i turni serali, notturni o con meteo avverso. Sapere che se succede un incidente e si perde conoscenza, i soccorsi arrivano immediatamente alle coordinate esatte.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4160520"/>
            <a:ext cx="5257800" cy="201168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92240" y="43891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Per l'Azienda: Responsabilità &amp; Assicurazioni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492240" y="4754880"/>
            <a:ext cx="45720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Conformità documentata ai più stringenti standard di sicurezza sul lavoro. Dati telemetrici oggettivi che consentono di dimostrare la prudenza e negoziare polizze assicurative flotta con forti sconti.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Gamification: Fidelizzazione e Guida Virtuosa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Come convertire il turno di consegna in un percorso meritocratico che premia la prudenza e la qualità.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0 - 100 Pts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100584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Punteggio Trasparente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Algoritmo proprietario che calcola il rating basandosi su 3 pilastri reali: puntualità nei ritiri (98%), guida sicura rilevata dai sensori (94%) e tasso di completamento corse (92%).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 Pro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466344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Classifiche &amp; Livelli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63440" y="33375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Classifiche cittadine dinamiche e badge di merito. I rider più affidabili ottengono priorità automatica nell'accesso alle fasce orarie e agli ordini con mance maggiori.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0467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21488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Blockchain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321040" y="278892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Incentivi Monetari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21040" y="3337560"/>
            <a:ext cx="283464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Integrazione con wallet digitale (Infocert): il rider riscatta bonus economici reali generati dalla guida sicura, abbattendo la frustrazione e incentivando la guida corretta.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Proposta di Valore B2B: Ritorno sull'Investimento (ROI)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Benefici quantificabili per grandi aziende di food delivery, e-commerce e corrieri urbani.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2240280"/>
            <a:ext cx="457200" cy="457200"/>
          </a:xfrm>
          <a:prstGeom prst="roundRect">
            <a:avLst/>
          </a:prstGeom>
          <a:solidFill>
            <a:srgbClr val="132A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91640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Pronta Senza Costi R&amp;D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691640" y="26974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Nessun investimento iniziale milionario per sviluppare software da zero. Integrazione API trasparente con i gestionali già in uso nell'azienda.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72200" y="192024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492240" y="2240280"/>
            <a:ext cx="457200" cy="457200"/>
          </a:xfrm>
          <a:prstGeom prst="roundRect">
            <a:avLst/>
          </a:prstGeom>
          <a:solidFill>
            <a:srgbClr val="132A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2402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132320" y="224028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-40% Furti e Smarrimenti di Biciclette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7132320" y="269748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Smart Lock a telaio blindato e telemetria GPS continua scoraggiano i furti e permettono il recupero immediato di mezzi rubati o abbandonati.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73152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1560" y="4389120"/>
            <a:ext cx="457200" cy="457200"/>
          </a:xfrm>
          <a:prstGeom prst="roundRect">
            <a:avLst/>
          </a:prstGeom>
          <a:solidFill>
            <a:srgbClr val="132A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91640" y="4389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-30% Turnover dei Rider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691640" y="48463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ambiente trasparente con incentivi per la guida sicura e protezione dagli infortuni fa crollare il tasso di abbandono, azzerando i costi di nuovo recruiting.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72200" y="4069080"/>
            <a:ext cx="5257800" cy="1965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92240" y="4389120"/>
            <a:ext cx="457200" cy="457200"/>
          </a:xfrm>
          <a:prstGeom prst="roundRect">
            <a:avLst/>
          </a:prstGeom>
          <a:solidFill>
            <a:srgbClr val="132A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38912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132320" y="4389120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Manutenzione Preventiva della Flotta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7132320" y="4846320"/>
            <a:ext cx="39776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Allarmi automatici basati sui chilometri reali percorsi: revisione freni, catene e copertoni prima che si verifichino guasti in strada durante la consegna.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Modello di Business &amp; Piani Commerciali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Struttura di ricavi ricorrenti, scalabile e flessibile in base alle dimensioni della flotta.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05840" y="2148840"/>
            <a:ext cx="2834640" cy="274320"/>
          </a:xfrm>
          <a:prstGeom prst="roundRect">
            <a:avLst/>
          </a:prstGeom>
          <a:solidFill>
            <a:srgbClr val="0E16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058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PIANO SCALABILE B2B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0058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Flotta Base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058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€14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mese per bici attiva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00584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Accesso completo alla dashboard di monitoraggio flotta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100584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Licenza App Rider PWA multilingua illimitata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05840" y="4846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Tracciamento telemetrico GPS in tempo reale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100584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Supporto tecnico via ticket entro 12 ore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389120" y="1920240"/>
            <a:ext cx="3410712" cy="425196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2148840"/>
            <a:ext cx="2834640" cy="274320"/>
          </a:xfrm>
          <a:prstGeom prst="roundRect">
            <a:avLst/>
          </a:prstGeom>
          <a:solidFill>
            <a:srgbClr val="0E1624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6634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PIANO RACCOMANDATO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46634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SaaS Flotta Pro + SOS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6634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€19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6634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/ mese per bici attiva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66344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Tutte le funzionalità del Piano Base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466344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Algoritmo FallDetector &amp; protocollo SOS integrato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4846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Modulo gamification, ranking rider e incentivi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6344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Reportistica chilometri per manutenzione programmata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467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321040" y="2148840"/>
            <a:ext cx="2834640" cy="274320"/>
          </a:xfrm>
          <a:prstGeom prst="roundRect">
            <a:avLst/>
          </a:prstGeom>
          <a:solidFill>
            <a:srgbClr val="0E1624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321040" y="2148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ENTERPRISE SOLUTION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321040" y="2560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Kit Hardware &amp; Enterprise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321040" y="29718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Custom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8321040" y="34290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Vendita / Noleggio operativo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8321040" y="384048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Fornitura centraline IoT MPU-6050 e Smart Lock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321040" y="4343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Integrazione API REST/WebSocket nei gestionali cliente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8321040" y="484632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Accordi convenzionati con officine meccaniche partner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8321040" y="534924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•  SLA di assistenza prioritaria 24/7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Ingegneria di Grado Enterprise: 100% Test Superati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Un software solido, testato e certificato per operare su strada senza sorprese.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331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31 / 31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914400" y="30632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Suite di Test Frontend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14400" y="36118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164 test unitari e di integrazione passati al 100% con Vitest (PWA, API Client, Auth, Mappe, ErrorBoundary).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456432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2331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14 / 14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639312" y="30632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 Automatici Backend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39312" y="36118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Collaudo completo su pipeline FastAPI, worker RabbitMQ, sessioni Flask e modelli PostgreSQL.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181344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364224" y="2331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1.2 s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364224" y="30632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Tempo di Build Vite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364224" y="36118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Architettura ultra-rapida con chunking intelligente per transizioni fluide e deploy istantaneo in cloud.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906256" y="1920240"/>
            <a:ext cx="254203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89136" y="2331720"/>
            <a:ext cx="217627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25 s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9089136" y="3063240"/>
            <a:ext cx="217627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Heartbeat Real-Time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089136" y="3611880"/>
            <a:ext cx="2176272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Protocollo Ping/Pong proprietario su WebSocket per prevenire disconnessioni silenziose su reti 4G/5G.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411480"/>
            <a:ext cx="731520" cy="45720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731520" y="530352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PIATTAFORMA ROR • B2B FLEET &amp; IOT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31520" y="777240"/>
            <a:ext cx="10698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3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Roadmap di Scalabilità &amp; Prossimi Traguardi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731520" y="1325880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Dalla validazione operativa a Milano all'espansione nazionale ed europea.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644652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Documento Riservato ad Uso Commerciale B2B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1 • AD OGGI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Validazione Pilota a Milano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333756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Ecosistema software Frontend PWA + Backend Docker completato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41148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Validazione sul campo con flotte di rider urbani a Milano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05840" y="48920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Integrazione cartografica di punti acqua, bagni e ciclo-officine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3891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2 • PRIMO SEMESTRE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66344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Espansione Nazionale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3440" y="333756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Attivazione flotta pilota a Roma, Torino, Bologna e Napoli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663440" y="41148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Accordi commerciali quadro con marchi di food delivery ed e-commerce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8920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Rilascio cruscotto manageriale per gestione multi-città in un solo click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46720" y="1920240"/>
            <a:ext cx="3410712" cy="4251960"/>
          </a:xfrm>
          <a:prstGeom prst="roundRect">
            <a:avLst/>
          </a:prstGeom>
          <a:solidFill>
            <a:srgbClr val="131B2A"/>
          </a:solidFill>
          <a:ln w="15240">
            <a:solidFill>
              <a:srgbClr val="232F4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22402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FASE 3 • SECONDO SEMESTRE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321040" y="2606040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Intelligenza Artificiale Predittiva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321040" y="333756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Algoritmi di routing AI in base a pendenza, pavimentazione e meteo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321040" y="411480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Manutenzione predittiva con pre-ordine automatico dei ricambi usura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8321040" y="4892040"/>
            <a:ext cx="28620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✓  Apertura API marketplace per broker assicurativi e partner logistici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97280" y="914400"/>
            <a:ext cx="9994392" cy="5029200"/>
          </a:xfrm>
          <a:prstGeom prst="roundRect">
            <a:avLst/>
          </a:prstGeom>
          <a:solidFill>
            <a:srgbClr val="131B2A"/>
          </a:solidFill>
          <a:ln w="19050">
            <a:solidFill>
              <a:srgbClr val="4ADE8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03904" y="1371600"/>
            <a:ext cx="4572000" cy="320040"/>
          </a:xfrm>
          <a:prstGeom prst="roundRect">
            <a:avLst/>
          </a:prstGeom>
          <a:solidFill>
            <a:srgbClr val="132A1C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803904" y="13716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PORTA LA TUA FLOTTA NEL FUTURO</a:t>
            </a:r>
            <a:endParaRPr lang="en-US" sz="950" dirty="0"/>
          </a:p>
        </p:txBody>
      </p:sp>
      <p:sp>
        <p:nvSpPr>
          <p:cNvPr id="5" name="Text 3"/>
          <p:cNvSpPr/>
          <p:nvPr/>
        </p:nvSpPr>
        <p:spPr>
          <a:xfrm>
            <a:off x="1463040" y="1920240"/>
            <a:ext cx="9262872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L'Ecosistema Smart Bike che Fa la Differenza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1645920" y="3154680"/>
            <a:ext cx="8897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Meno furti, maggiore sicurezza per i rider, controllo totale dei costi operativi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 la migliore tecnologia phygital integrata pronta per il mercato.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889504" y="4023360"/>
            <a:ext cx="6400800" cy="1371600"/>
          </a:xfrm>
          <a:prstGeom prst="roundRect">
            <a:avLst/>
          </a:prstGeom>
          <a:solidFill>
            <a:srgbClr val="0C131F"/>
          </a:solidFill>
          <a:ln w="15240">
            <a:solidFill>
              <a:srgbClr val="24334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072384" y="420624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ADE80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Richiedi una Demo Live o Attiva un Pilota Flotta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72384" y="4617720"/>
            <a:ext cx="6035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Milano, Italia • E-mail: partnership@ror-delivery.it • Web: https://ror-delivery.it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097280" y="6263640"/>
            <a:ext cx="9994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Rider of Riders (RoR) • Tutti i diritti riservati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RoR - Smart Logistics &amp; IoT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RoR - Rider of Riders: Presentazione Commerciale B2B</dc:title>
  <dc:subject>PptxGenJS Presentation</dc:subject>
  <dc:creator>Rider of Riders (RoR) Team</dc:creator>
  <cp:lastModifiedBy>Rider of Riders (RoR) Team</cp:lastModifiedBy>
  <cp:revision>1</cp:revision>
  <dcterms:created xsi:type="dcterms:W3CDTF">2026-09-21T09:04:31Z</dcterms:created>
  <dcterms:modified xsi:type="dcterms:W3CDTF">2026-09-21T09:04:31Z</dcterms:modified>
</cp:coreProperties>
</file>